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84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0:00-0:07 | 7 seconds</a:t>
            </a:r>
          </a:p>
          <a:p>
            <a:r>
              <a:rPr lang="en-US">
                <a:latin typeface="Aptos" panose="020B0004020202020204" pitchFamily="34" charset="0"/>
              </a:rPr>
              <a:t>Narration: SAGE turns personal prompts, scripts, and tools into governed AI capabilities that the whole team can reuse.</a:t>
            </a:r>
          </a:p>
          <a:p>
            <a:r>
              <a:rPr lang="en-US">
                <a:latin typeface="Aptos" panose="020B0004020202020204" pitchFamily="34" charset="0"/>
              </a:rPr>
              <a:t>Visual cue: Hold on the title, then emphasize Skill, governance gate, and team API.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0:07-0:18 | 11 seconds</a:t>
            </a:r>
          </a:p>
          <a:p>
            <a:r>
              <a:rPr lang="en-US">
                <a:latin typeface="Aptos" panose="020B0004020202020204" pitchFamily="34" charset="0"/>
              </a:rPr>
              <a:t>Narration: Teams already have AI capabilities. But they are trapped in personal environments, execution boundaries live in documents, and upgrades can disrupt active work.</a:t>
            </a:r>
          </a:p>
          <a:p>
            <a:r>
              <a:rPr lang="en-US">
                <a:latin typeface="Aptos" panose="020B0004020202020204" pitchFamily="34" charset="0"/>
              </a:rPr>
              <a:t>Visual cue: Move left to right through environment, policy, and upgrade risk.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0:18-0:34 | 16 seconds</a:t>
            </a:r>
          </a:p>
          <a:p>
            <a:r>
              <a:rPr lang="en-US">
                <a:latin typeface="Aptos" panose="020B0004020202020204" pitchFamily="34" charset="0"/>
              </a:rPr>
              <a:t>Narration: SAGE validates and evaluates each Skill, builds a Candidate, then activates an immutable Generation. Known tasks bypass the LLM. Complex goals load Skills on demand. Every request stays version-pinned behind the same policy boundary.</a:t>
            </a:r>
          </a:p>
          <a:p>
            <a:r>
              <a:rPr lang="en-US">
                <a:latin typeface="Aptos" panose="020B0004020202020204" pitchFamily="34" charset="0"/>
              </a:rPr>
              <a:t>Visual cue: Follow the main chain, then compare the Direct and Agent paths.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0:34-0:48 | 14 seconds</a:t>
            </a:r>
          </a:p>
          <a:p>
            <a:r>
              <a:rPr lang="en-US">
                <a:latin typeface="Aptos" panose="020B0004020202020204" pitchFamily="34" charset="0"/>
              </a:rPr>
              <a:t>Narration: An administrator connects an MCP server, discovers calculate total, and registers it as a read-only native tool with a version and content digest. Governance begins at onboarding.</a:t>
            </a:r>
          </a:p>
          <a:p>
            <a:r>
              <a:rPr lang="en-US">
                <a:latin typeface="Aptos" panose="020B0004020202020204" pitchFamily="34" charset="0"/>
              </a:rPr>
              <a:t>Visual cue: Point to calculate_total, read-only, version, and active status.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0:48-1:06 | 18 seconds</a:t>
            </a:r>
          </a:p>
          <a:p>
            <a:r>
              <a:rPr lang="en-US">
                <a:latin typeface="Aptos" panose="020B0004020202020204" pitchFamily="34" charset="0"/>
              </a:rPr>
              <a:t>Narration: The designer provides visual configuration. On the right is the validated Quick Flow execution chain. Quick Publish and Run resolves dependencies, builds, validates, activates, and starts a durable run in one step.</a:t>
            </a:r>
          </a:p>
          <a:p>
            <a:r>
              <a:rPr lang="en-US">
                <a:latin typeface="Aptos" panose="020B0004020202020204" pitchFamily="34" charset="0"/>
              </a:rPr>
              <a:t>Visual cue: Show the designer, follow the validated chain, then emphasize Quick Publish and Run.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1:06-1:24 | 18 seconds</a:t>
            </a:r>
          </a:p>
          <a:p>
            <a:r>
              <a:rPr lang="en-US">
                <a:latin typeface="Aptos" panose="020B0004020202020204" pitchFamily="34" charset="0"/>
              </a:rPr>
              <a:t>Narration: Temporal runs the workflow durably. Unit price twelve, quantity three, and a ten percent discount produce a JSON total of thirty-two point four, linked to its Run, Release, and Generation.</a:t>
            </a:r>
          </a:p>
          <a:p>
            <a:r>
              <a:rPr lang="en-US">
                <a:latin typeface="Aptos" panose="020B0004020202020204" pitchFamily="34" charset="0"/>
              </a:rPr>
              <a:t>Visual cue: Show completed, point to the real JSON zoom, then name the result and version links.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1:24-1:39 | 15 seconds</a:t>
            </a:r>
          </a:p>
          <a:p>
            <a:r>
              <a:rPr lang="en-US">
                <a:latin typeface="Aptos" panose="020B0004020202020204" pitchFamily="34" charset="0"/>
              </a:rPr>
              <a:t>Narration: Publishing never overwrites a live version. A new release activates atomically only after validation, evaluation, and approval. If any gate fails, the active Generation remains unchanged. Release history records the version switch.</a:t>
            </a:r>
          </a:p>
          <a:p>
            <a:r>
              <a:rPr lang="en-US">
                <a:latin typeface="Aptos" panose="020B0004020202020204" pitchFamily="34" charset="0"/>
              </a:rPr>
              <a:t>Visual cue: Compare version 1.1.0 active with 1.0.0 inactive, then explain both branches.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1:39-1:46 | 7 seconds</a:t>
            </a:r>
          </a:p>
          <a:p>
            <a:r>
              <a:rPr lang="en-US">
                <a:latin typeface="Aptos" panose="020B0004020202020204" pitchFamily="34" charset="0"/>
              </a:rPr>
              <a:t>Narration: SAGE is not another tool gateway. It is the governance and delivery layer for Agent Skills.</a:t>
            </a:r>
          </a:p>
          <a:p>
            <a:r>
              <a:rPr lang="en-US">
                <a:latin typeface="Aptos" panose="020B0004020202020204" pitchFamily="34" charset="0"/>
              </a:rPr>
              <a:t>Visual cue: Hold on the three proof points and the SAGE mark.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C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AB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D0F14">
              <a:alpha val="92000"/>
            </a:srgbClr>
          </a:solidFill>
          <a:ln w="12700">
            <a:solidFill>
              <a:srgbClr val="0D0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0:00-0:07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Turn personal Skills into governed AI capabilities the whole team can reuse.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58368" y="932688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3A2029"/>
          </a:solidFill>
          <a:ln w="12700">
            <a:solidFill>
              <a:srgbClr val="3A202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10012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AGENT GOVERNANCE ENGINE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141732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</a:t>
            </a:r>
            <a:endParaRPr lang="en-US" sz="6600" dirty="0"/>
          </a:p>
        </p:txBody>
      </p:sp>
      <p:sp>
        <p:nvSpPr>
          <p:cNvPr id="12" name="Text 9"/>
          <p:cNvSpPr/>
          <p:nvPr/>
        </p:nvSpPr>
        <p:spPr>
          <a:xfrm>
            <a:off x="694944" y="2606040"/>
            <a:ext cx="6126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>
                <a:solidFill>
                  <a:srgbClr val="F0D8DE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Team Skills, Governed as Agent APIs</a:t>
            </a:r>
            <a:endParaRPr lang="en-US" sz="2500" dirty="0">
              <a:latin typeface="Aptos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3232" y="36758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EB2B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 /  PUBLISH  /  PIN  /  ROLLBACK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1828800"/>
            <a:ext cx="1225296" cy="1225296"/>
          </a:xfrm>
          <a:prstGeom prst="ellipse">
            <a:avLst/>
          </a:prstGeom>
          <a:solidFill>
            <a:srgbClr val="30252A"/>
          </a:solidFill>
          <a:ln w="15240">
            <a:solidFill>
              <a:srgbClr val="656A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224942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12280" y="3246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FC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Script / Tool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0" y="2441448"/>
            <a:ext cx="384048" cy="0"/>
          </a:xfrm>
          <a:prstGeom prst="line">
            <a:avLst/>
          </a:prstGeom>
          <a:noFill/>
          <a:ln w="22860">
            <a:solidFill>
              <a:srgbClr val="7D828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641080" y="1828800"/>
            <a:ext cx="1225296" cy="1225296"/>
          </a:xfrm>
          <a:prstGeom prst="ellipse">
            <a:avLst/>
          </a:prstGeom>
          <a:solidFill>
            <a:srgbClr val="48212C"/>
          </a:solidFill>
          <a:ln w="31750">
            <a:solidFill>
              <a:srgbClr val="A923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41080" y="224942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03920" y="3246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FC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+ Evidence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921240" y="2441448"/>
            <a:ext cx="384048" cy="0"/>
          </a:xfrm>
          <a:prstGeom prst="line">
            <a:avLst/>
          </a:prstGeom>
          <a:noFill/>
          <a:ln w="22860">
            <a:solidFill>
              <a:srgbClr val="7D828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0332720" y="1828800"/>
            <a:ext cx="1225296" cy="1225296"/>
          </a:xfrm>
          <a:prstGeom prst="ellipse">
            <a:avLst/>
          </a:prstGeom>
          <a:solidFill>
            <a:srgbClr val="153D39"/>
          </a:solidFill>
          <a:ln w="15240">
            <a:solidFill>
              <a:srgbClr val="656A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32720" y="2249424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195560" y="324612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FC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Runtime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8660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C6C8CD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PERSONAL ASSET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759952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F0D8DE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GOVERNED DELIVERY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442448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>
                <a:solidFill>
                  <a:srgbClr val="C6C8CD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TEAM REUSE</a:t>
            </a: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AI Capabilities Are Trapped on Personal Machines</a:t>
            </a: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0:07-0:18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The challenge is not calling a Tool. It is safe delivery and continuous change.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0352" y="1417320"/>
            <a:ext cx="3246120" cy="3584448"/>
          </a:xfrm>
          <a:prstGeom prst="rect">
            <a:avLst/>
          </a:prstGeom>
          <a:solidFill>
            <a:srgbClr val="FFFDF9"/>
          </a:solidFill>
          <a:ln w="12700">
            <a:solidFill>
              <a:srgbClr val="D6D0C7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" y="1417320"/>
            <a:ext cx="3246120" cy="109728"/>
          </a:xfrm>
          <a:prstGeom prst="rect">
            <a:avLst/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" y="176479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900" dirty="0"/>
          </a:p>
        </p:txBody>
      </p:sp>
      <p:sp>
        <p:nvSpPr>
          <p:cNvPr id="13" name="Shape 10"/>
          <p:cNvSpPr/>
          <p:nvPr/>
        </p:nvSpPr>
        <p:spPr>
          <a:xfrm>
            <a:off x="2587752" y="1783080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4DDE2"/>
          </a:solidFill>
          <a:ln w="12700">
            <a:solidFill>
              <a:srgbClr val="F4DD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87752" y="18516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" y="24871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DEPENDENCY FRICTION</a:t>
            </a:r>
            <a:endParaRPr lang="en-US" sz="2100" dirty="0">
              <a:latin typeface="Aptos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58952" y="31272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4D5159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Others must copy files and install runtimes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4D5159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to reuse the same capability.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58952" y="4279392"/>
            <a:ext cx="2697480" cy="0"/>
          </a:xfrm>
          <a:prstGeom prst="line">
            <a:avLst/>
          </a:prstGeom>
          <a:noFill/>
          <a:ln w="27940">
            <a:solidFill>
              <a:srgbClr val="A9233A"/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4133088" y="1417320"/>
            <a:ext cx="3246120" cy="3584448"/>
          </a:xfrm>
          <a:prstGeom prst="rect">
            <a:avLst/>
          </a:prstGeom>
          <a:solidFill>
            <a:srgbClr val="FFFDF9"/>
          </a:solidFill>
          <a:ln w="12700">
            <a:solidFill>
              <a:srgbClr val="D6D0C7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33088" y="1417320"/>
            <a:ext cx="3246120" cy="109728"/>
          </a:xfrm>
          <a:prstGeom prst="rect">
            <a:avLst/>
          </a:prstGeom>
          <a:solidFill>
            <a:srgbClr val="C77C10"/>
          </a:solidFill>
          <a:ln w="12700">
            <a:solidFill>
              <a:srgbClr val="C77C1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61688" y="176479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900" dirty="0"/>
          </a:p>
        </p:txBody>
      </p:sp>
      <p:sp>
        <p:nvSpPr>
          <p:cNvPr id="21" name="Shape 18"/>
          <p:cNvSpPr/>
          <p:nvPr/>
        </p:nvSpPr>
        <p:spPr>
          <a:xfrm>
            <a:off x="6190488" y="1783080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F7E8C9"/>
          </a:solidFill>
          <a:ln w="12700">
            <a:solidFill>
              <a:srgbClr val="F7E8C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90488" y="18516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361688" y="24871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POLICIES STAY IN DOCS</a:t>
            </a:r>
            <a:endParaRPr lang="en-US" sz="2100" dirty="0">
              <a:latin typeface="Aptos" panose="020B00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61688" y="31272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4D5159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Schemas, permissions, timeouts, and side effects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4D5159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lack one enforcement gate.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361688" y="4279392"/>
            <a:ext cx="2697480" cy="0"/>
          </a:xfrm>
          <a:prstGeom prst="line">
            <a:avLst/>
          </a:prstGeom>
          <a:noFill/>
          <a:ln w="27940">
            <a:solidFill>
              <a:srgbClr val="C77C10"/>
            </a:solidFill>
            <a:prstDash val="solid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7735824" y="1417320"/>
            <a:ext cx="3246120" cy="3584448"/>
          </a:xfrm>
          <a:prstGeom prst="rect">
            <a:avLst/>
          </a:prstGeom>
          <a:solidFill>
            <a:srgbClr val="FFFDF9"/>
          </a:solidFill>
          <a:ln w="12700">
            <a:solidFill>
              <a:srgbClr val="D6D0C7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35824" y="1417320"/>
            <a:ext cx="3246120" cy="109728"/>
          </a:xfrm>
          <a:prstGeom prst="rect">
            <a:avLst/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64424" y="176479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900" dirty="0"/>
          </a:p>
        </p:txBody>
      </p:sp>
      <p:sp>
        <p:nvSpPr>
          <p:cNvPr id="29" name="Shape 26"/>
          <p:cNvSpPr/>
          <p:nvPr/>
        </p:nvSpPr>
        <p:spPr>
          <a:xfrm>
            <a:off x="9793224" y="1783080"/>
            <a:ext cx="868680" cy="347472"/>
          </a:xfrm>
          <a:prstGeom prst="roundRect">
            <a:avLst>
              <a:gd name="adj" fmla="val 2105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93224" y="185166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7964424" y="24871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UPGRADES DISRUPT WORK</a:t>
            </a:r>
            <a:endParaRPr lang="en-US" sz="2100" dirty="0">
              <a:latin typeface="Aptos" panose="020B00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964424" y="31272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4D5159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Overwrite releases lack version pinning,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4D5159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and bad changes are hard to contain.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964424" y="4279392"/>
            <a:ext cx="2697480" cy="0"/>
          </a:xfrm>
          <a:prstGeom prst="line">
            <a:avLst/>
          </a:prstGeom>
          <a:noFill/>
          <a:ln w="27940">
            <a:solidFill>
              <a:srgbClr val="137A70"/>
            </a:solidFill>
            <a:prstDash val="solid"/>
            <a:tailEnd type="none"/>
          </a:ln>
        </p:spPr>
      </p:sp>
      <p:sp>
        <p:nvSpPr>
          <p:cNvPr id="34" name="Text 31"/>
          <p:cNvSpPr/>
          <p:nvPr/>
        </p:nvSpPr>
        <p:spPr>
          <a:xfrm>
            <a:off x="1051560" y="52303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A9233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The question is not 'Can we call it?' but 'Can we ship it safely?'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One Trusted Delivery Chain, Two Execution Paths</a:t>
            </a: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0:18-0:34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Validation, release, version pinning, and policy form one trusted loop.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84832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414016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87168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487168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· Eval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23360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352544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25696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425696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gate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61888" y="1901952"/>
            <a:ext cx="283464" cy="0"/>
          </a:xfrm>
          <a:prstGeom prst="line">
            <a:avLst/>
          </a:prstGeom>
          <a:noFill/>
          <a:ln w="19050">
            <a:solidFill>
              <a:srgbClr val="A9233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291072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4224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364224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5DDE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Immutable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00416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8229600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02752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02752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· Policy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838944" y="1901952"/>
            <a:ext cx="283464" cy="0"/>
          </a:xfrm>
          <a:prstGeom prst="line">
            <a:avLst/>
          </a:prstGeom>
          <a:noFill/>
          <a:ln w="19050">
            <a:solidFill>
              <a:srgbClr val="9F9A9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168128" y="1417320"/>
            <a:ext cx="1572768" cy="987552"/>
          </a:xfrm>
          <a:prstGeom prst="roundRect">
            <a:avLst>
              <a:gd name="adj" fmla="val 7407"/>
            </a:avLst>
          </a:prstGeom>
          <a:solidFill>
            <a:srgbClr val="FFFDF9"/>
          </a:solidFill>
          <a:ln w="12700">
            <a:solidFill>
              <a:srgbClr val="CDC7B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41280" y="1700784"/>
            <a:ext cx="1426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0241280" y="199339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85800" y="2898648"/>
            <a:ext cx="5230368" cy="1609344"/>
          </a:xfrm>
          <a:prstGeom prst="roundRect">
            <a:avLst>
              <a:gd name="adj" fmla="val 4545"/>
            </a:avLst>
          </a:prstGeom>
          <a:solidFill>
            <a:srgbClr val="DDEFEA"/>
          </a:solidFill>
          <a:ln w="12700">
            <a:solidFill>
              <a:srgbClr val="9CCEC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50976" y="317296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50976" y="32415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50976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137A70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DETERMINISTIC TASKS</a:t>
            </a:r>
            <a:endParaRPr lang="en-US" sz="1900" dirty="0">
              <a:latin typeface="Aptos" panose="020B00040202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50976" y="405079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356B65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Typed I/O that bypasses model reasoning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462272" y="313639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900" dirty="0"/>
          </a:p>
        </p:txBody>
      </p:sp>
      <p:sp>
        <p:nvSpPr>
          <p:cNvPr id="39" name="Text 36"/>
          <p:cNvSpPr/>
          <p:nvPr/>
        </p:nvSpPr>
        <p:spPr>
          <a:xfrm>
            <a:off x="4160520" y="3803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CALLS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263640" y="2898648"/>
            <a:ext cx="5230368" cy="1609344"/>
          </a:xfrm>
          <a:prstGeom prst="roundRect">
            <a:avLst>
              <a:gd name="adj" fmla="val 4545"/>
            </a:avLst>
          </a:prstGeom>
          <a:solidFill>
            <a:srgbClr val="F4DDE2"/>
          </a:solidFill>
          <a:ln w="12700">
            <a:solidFill>
              <a:srgbClr val="DCADB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28816" y="3172968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28816" y="324154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528816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>
                <a:solidFill>
                  <a:srgbClr val="A9233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COMPLEX GOALS</a:t>
            </a:r>
            <a:endParaRPr lang="en-US" sz="1900" dirty="0">
              <a:latin typeface="Aptos" panose="020B00040202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528816" y="4050792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7F4350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Load Skills on demand; compose governed Tools</a:t>
            </a:r>
            <a:endParaRPr lang="en-US" sz="1250" dirty="0">
              <a:latin typeface="Aptos" panose="020B00040202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9811512" y="349300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DEMAND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1426464" y="4901184"/>
            <a:ext cx="9326880" cy="521208"/>
          </a:xfrm>
          <a:prstGeom prst="roundRect">
            <a:avLst>
              <a:gd name="adj" fmla="val 14035"/>
            </a:avLst>
          </a:prstGeom>
          <a:solidFill>
            <a:srgbClr val="181B22"/>
          </a:solidFill>
          <a:ln w="12700">
            <a:solidFill>
              <a:srgbClr val="181B2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609344" y="5065776"/>
            <a:ext cx="8961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  ·   SCHEMA   ·   RISK   ·   BUDGET   ·   APPROVAL   ·   AUDIT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1. Onboard and Govern an MCP Tool</a:t>
            </a: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0:34-0:48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Every MCP Tool enters with a version, risk class, and content digest.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21208" y="1179576"/>
            <a:ext cx="7498080" cy="4507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21208" y="1179576"/>
            <a:ext cx="7498080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1271016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0392" y="1271016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4128" y="1271016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SAGE MCP management page showing the governed calculate_total Tool"/>
          <p:cNvPicPr>
            <a:picLocks noChangeAspect="1"/>
          </p:cNvPicPr>
          <p:nvPr/>
        </p:nvPicPr>
        <p:blipFill>
          <a:blip r:embed="rId3"/>
          <a:srcRect l="14236" t="36871" r="3125" b="16609"/>
          <a:stretch/>
        </p:blipFill>
        <p:spPr>
          <a:xfrm>
            <a:off x="566928" y="1435608"/>
            <a:ext cx="7406640" cy="420624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71216" y="2029968"/>
            <a:ext cx="4965192" cy="52120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923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71216" y="4087368"/>
            <a:ext cx="4965192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37A7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39328" y="1353312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A9233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Governance starts before</a:t>
            </a:r>
          </a:p>
          <a:p>
            <a:pPr marL="0" indent="0">
              <a:buNone/>
            </a:pPr>
            <a:r>
              <a:rPr lang="en-US" sz="2200" b="1">
                <a:solidFill>
                  <a:srgbClr val="A9233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the capability can run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348472" y="2487168"/>
            <a:ext cx="384048" cy="384048"/>
          </a:xfrm>
          <a:prstGeom prst="ellipse">
            <a:avLst/>
          </a:prstGeom>
          <a:solidFill>
            <a:srgbClr val="A9233A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48472" y="255574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887968" y="2496312"/>
            <a:ext cx="8412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CONNECT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9756648" y="2514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540496" y="2926080"/>
            <a:ext cx="0" cy="329184"/>
          </a:xfrm>
          <a:prstGeom prst="line">
            <a:avLst/>
          </a:prstGeom>
          <a:noFill/>
          <a:ln w="16510">
            <a:solidFill>
              <a:srgbClr val="B9B2A8"/>
            </a:solidFill>
            <a:prstDash val="solid"/>
            <a:tailEnd type="none"/>
          </a:ln>
        </p:spPr>
      </p:sp>
      <p:sp>
        <p:nvSpPr>
          <p:cNvPr id="24" name="Shape 20"/>
          <p:cNvSpPr/>
          <p:nvPr/>
        </p:nvSpPr>
        <p:spPr>
          <a:xfrm>
            <a:off x="8348472" y="3328416"/>
            <a:ext cx="384048" cy="384048"/>
          </a:xfrm>
          <a:prstGeom prst="ellipse">
            <a:avLst/>
          </a:prstGeom>
          <a:solidFill>
            <a:srgbClr val="A9233A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48472" y="3396996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887968" y="3337560"/>
            <a:ext cx="8412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DISCOVER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9756648" y="33558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calculate_total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540496" y="3767328"/>
            <a:ext cx="0" cy="329184"/>
          </a:xfrm>
          <a:prstGeom prst="line">
            <a:avLst/>
          </a:prstGeom>
          <a:noFill/>
          <a:ln w="16510">
            <a:solidFill>
              <a:srgbClr val="B9B2A8"/>
            </a:solidFill>
            <a:prstDash val="solid"/>
            <a:tailEnd type="none"/>
          </a:ln>
        </p:spPr>
      </p:sp>
      <p:sp>
        <p:nvSpPr>
          <p:cNvPr id="29" name="Shape 25"/>
          <p:cNvSpPr/>
          <p:nvPr/>
        </p:nvSpPr>
        <p:spPr>
          <a:xfrm>
            <a:off x="8348472" y="4169664"/>
            <a:ext cx="384048" cy="384048"/>
          </a:xfrm>
          <a:prstGeom prst="ellipse">
            <a:avLst/>
          </a:prstGeom>
          <a:solidFill>
            <a:srgbClr val="137A7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48472" y="423824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887968" y="4178808"/>
            <a:ext cx="8412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REGISTER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9756648" y="41970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· risk · digest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8348472" y="5102352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348472" y="51709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READ-ONLY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9710928" y="5102352"/>
            <a:ext cx="960120" cy="347472"/>
          </a:xfrm>
          <a:prstGeom prst="roundRect">
            <a:avLst>
              <a:gd name="adj" fmla="val 21053"/>
            </a:avLst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710928" y="51709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2. Design, Publish, and Run in One Click</a:t>
            </a: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0:48-1:06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One action resolves dependencies, builds, activates, and starts a durable run.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4632" y="1161288"/>
            <a:ext cx="6656832" cy="46451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" y="1161288"/>
            <a:ext cx="6656832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252728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" y="1252728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1252728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Saved workflow in the SAGE Workflow Designer"/>
          <p:cNvPicPr>
            <a:picLocks noChangeAspect="1"/>
          </p:cNvPicPr>
          <p:nvPr/>
        </p:nvPicPr>
        <p:blipFill>
          <a:blip r:embed="rId3"/>
          <a:srcRect l="11228" t="13841" r="2456" b="15830"/>
          <a:stretch/>
        </p:blipFill>
        <p:spPr>
          <a:xfrm>
            <a:off x="530352" y="1417320"/>
            <a:ext cx="6565392" cy="4343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49808" y="1545336"/>
            <a:ext cx="1572768" cy="347472"/>
          </a:xfrm>
          <a:prstGeom prst="roundRect">
            <a:avLst>
              <a:gd name="adj" fmla="val 21053"/>
            </a:avLst>
          </a:prstGeom>
          <a:solidFill>
            <a:srgbClr val="181B22"/>
          </a:solidFill>
          <a:ln w="12700">
            <a:solidFill>
              <a:srgbClr val="181B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9808" y="161391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DESIGNER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516368" y="1353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A9233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VALIDATED QUICK FLOW</a:t>
            </a:r>
            <a:endParaRPr lang="en-US" sz="1000" dirty="0">
              <a:latin typeface="Aptos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516368" y="1691640"/>
            <a:ext cx="3977640" cy="612648"/>
          </a:xfrm>
          <a:prstGeom prst="roundRect">
            <a:avLst>
              <a:gd name="adj" fmla="val 11940"/>
            </a:avLst>
          </a:prstGeom>
          <a:solidFill>
            <a:srgbClr val="EAE5DC"/>
          </a:solidFill>
          <a:ln w="12700">
            <a:solidFill>
              <a:srgbClr val="EAE5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54112" y="18013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202126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NORMALIZE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9326880" y="18013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2021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Skill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9500616" y="2322576"/>
            <a:ext cx="0" cy="182880"/>
          </a:xfrm>
          <a:prstGeom prst="line">
            <a:avLst/>
          </a:prstGeom>
          <a:noFill/>
          <a:ln w="17780">
            <a:solidFill>
              <a:srgbClr val="AAA49B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7516368" y="2532888"/>
            <a:ext cx="3977640" cy="612648"/>
          </a:xfrm>
          <a:prstGeom prst="roundRect">
            <a:avLst>
              <a:gd name="adj" fmla="val 11940"/>
            </a:avLst>
          </a:prstGeom>
          <a:solidFill>
            <a:srgbClr val="F4DDE2"/>
          </a:solidFill>
          <a:ln w="12700">
            <a:solidFill>
              <a:srgbClr val="F4DDE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754112" y="26426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A9233A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CALCULATE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9326880" y="26426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A9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calculate_total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9500616" y="3163824"/>
            <a:ext cx="0" cy="182880"/>
          </a:xfrm>
          <a:prstGeom prst="line">
            <a:avLst/>
          </a:prstGeom>
          <a:noFill/>
          <a:ln w="17780">
            <a:solidFill>
              <a:srgbClr val="AAA49B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7516368" y="3374136"/>
            <a:ext cx="3977640" cy="612648"/>
          </a:xfrm>
          <a:prstGeom prst="roundRect">
            <a:avLst>
              <a:gd name="adj" fmla="val 11940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754112" y="34838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37A70"/>
                </a:solidFill>
                <a:latin typeface="Aptos" panose="020B0004020202020204" pitchFamily="34" charset="0"/>
                <a:ea typeface="Aptos Display" pitchFamily="34" charset="-122"/>
                <a:cs typeface="Aptos Display" pitchFamily="34" charset="-120"/>
              </a:rPr>
              <a:t>PACKAGE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9326880" y="348386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dirty="0">
                <a:solidFill>
                  <a:srgbClr val="137A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Calc Skill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7516368" y="4462272"/>
            <a:ext cx="3977640" cy="704088"/>
          </a:xfrm>
          <a:prstGeom prst="roundRect">
            <a:avLst>
              <a:gd name="adj" fmla="val 10390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80960" y="4681728"/>
            <a:ext cx="3648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PUBLISH AND RUN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479792" y="5376672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resolve  ·  build  ·  validate  ·  activate  ·  run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3. Inspect the Structured Run Output</a:t>
            </a: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1:06-1:24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Output: 32.4. Run, Release, and Generation remain traceable.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4632" y="1161288"/>
            <a:ext cx="6766560" cy="45811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" y="1161288"/>
            <a:ext cx="6766560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252728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" y="1252728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1252728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Completed SAGE Solution run with structured output"/>
          <p:cNvPicPr>
            <a:picLocks noChangeAspect="1"/>
          </p:cNvPicPr>
          <p:nvPr/>
        </p:nvPicPr>
        <p:blipFill>
          <a:blip r:embed="rId3"/>
          <a:srcRect l="17014" t="32113" r="5556" b="18508"/>
          <a:stretch/>
        </p:blipFill>
        <p:spPr>
          <a:xfrm>
            <a:off x="530352" y="1417320"/>
            <a:ext cx="6675120" cy="42793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645152" y="2852928"/>
            <a:ext cx="2395728" cy="2670048"/>
          </a:xfrm>
          <a:prstGeom prst="rect">
            <a:avLst/>
          </a:prstGeom>
          <a:solidFill>
            <a:srgbClr val="FFFFFF"/>
          </a:solidFill>
          <a:ln w="25400">
            <a:solidFill>
              <a:srgbClr val="A9233A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7" name="Image 1" descr="Structured JSON output containing discount, quantity, subtotal, total 32.4, and unit_price"/>
          <p:cNvPicPr>
            <a:picLocks noChangeAspect="1"/>
          </p:cNvPicPr>
          <p:nvPr/>
        </p:nvPicPr>
        <p:blipFill>
          <a:blip r:embed="rId4"/>
          <a:srcRect l="7692" t="61038" r="7692" b="16714"/>
          <a:stretch/>
        </p:blipFill>
        <p:spPr>
          <a:xfrm>
            <a:off x="4700016" y="3072384"/>
            <a:ext cx="2286000" cy="23957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91456" y="2907792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791456" y="297637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JSON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635240" y="14173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635240" y="14859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RUN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763524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Unit price 12  ·  Quantity 3  ·  Discount 10%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973568" y="2496312"/>
            <a:ext cx="3310128" cy="0"/>
          </a:xfrm>
          <a:prstGeom prst="line">
            <a:avLst/>
          </a:prstGeom>
          <a:noFill/>
          <a:ln w="17780">
            <a:solidFill>
              <a:srgbClr val="D8D2C8"/>
            </a:solidFill>
            <a:prstDash val="solid"/>
            <a:tailEnd type="none"/>
          </a:ln>
        </p:spPr>
      </p:sp>
      <p:sp>
        <p:nvSpPr>
          <p:cNvPr id="24" name="Text 19"/>
          <p:cNvSpPr/>
          <p:nvPr/>
        </p:nvSpPr>
        <p:spPr>
          <a:xfrm>
            <a:off x="7635240" y="26700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32.4</a:t>
            </a:r>
            <a:endParaRPr lang="en-US" sz="5200" dirty="0"/>
          </a:p>
        </p:txBody>
      </p:sp>
      <p:sp>
        <p:nvSpPr>
          <p:cNvPr id="25" name="Text 20"/>
          <p:cNvSpPr/>
          <p:nvPr/>
        </p:nvSpPr>
        <p:spPr>
          <a:xfrm>
            <a:off x="7635240" y="3584448"/>
            <a:ext cx="3977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60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OUTPUT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35240" y="4279392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DDEFEA"/>
          </a:solidFill>
          <a:ln w="12700">
            <a:solidFill>
              <a:srgbClr val="A5D2C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635240" y="4462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7635240" y="4782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979408" y="4279392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D5CFC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979408" y="4462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8979408" y="4782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immutable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10323576" y="4279392"/>
            <a:ext cx="1188720" cy="841248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D5CFC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323576" y="4462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323576" y="4782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1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pinned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202126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Only Gated Releases Go Live</a:t>
            </a:r>
            <a:endParaRPr lang="en-US" sz="27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81B22"/>
          </a:solidFill>
          <a:ln w="12700">
            <a:solidFill>
              <a:srgbClr val="181B2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1:24-1:39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Pass: activate atomically. Fail: keep the active Generation.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4632" y="1161288"/>
            <a:ext cx="6629400" cy="47183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C5BB"/>
            </a:solidFill>
            <a:prstDash val="solid"/>
          </a:ln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" y="1161288"/>
            <a:ext cx="6629400" cy="256032"/>
          </a:xfrm>
          <a:prstGeom prst="rect">
            <a:avLst/>
          </a:prstGeom>
          <a:solidFill>
            <a:srgbClr val="E8E5DF"/>
          </a:solidFill>
          <a:ln w="12700">
            <a:solidFill>
              <a:srgbClr val="CBC5B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252728"/>
            <a:ext cx="73152" cy="73152"/>
          </a:xfrm>
          <a:prstGeom prst="ellipse">
            <a:avLst/>
          </a:prstGeom>
          <a:solidFill>
            <a:srgbClr val="A9233A"/>
          </a:solidFill>
          <a:ln w="12700">
            <a:solidFill>
              <a:srgbClr val="A9233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3816" y="1252728"/>
            <a:ext cx="73152" cy="73152"/>
          </a:xfrm>
          <a:prstGeom prst="ellipse">
            <a:avLst/>
          </a:prstGeom>
          <a:solidFill>
            <a:srgbClr val="C77C10"/>
          </a:solidFill>
          <a:ln w="12700">
            <a:solidFill>
              <a:srgbClr val="C77C10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52" y="1252728"/>
            <a:ext cx="73152" cy="73152"/>
          </a:xfrm>
          <a:prstGeom prst="ellipse">
            <a:avLst/>
          </a:prstGeom>
          <a:solidFill>
            <a:srgbClr val="137A70"/>
          </a:solidFill>
          <a:ln w="12700">
            <a:solidFill>
              <a:srgbClr val="137A70">
                <a:alpha val="0"/>
              </a:srgbClr>
            </a:solidFill>
            <a:prstDash val="solid"/>
          </a:ln>
        </p:spPr>
      </p:sp>
      <p:pic>
        <p:nvPicPr>
          <p:cNvPr id="15" name="Image 0" descr="SAGE Release page showing version 1.1.0 active and 1.0.0 inactive"/>
          <p:cNvPicPr>
            <a:picLocks noChangeAspect="1"/>
          </p:cNvPicPr>
          <p:nvPr/>
        </p:nvPicPr>
        <p:blipFill>
          <a:blip r:embed="rId3"/>
          <a:srcRect l="15972" t="17000" r="5556" b="6600"/>
          <a:stretch/>
        </p:blipFill>
        <p:spPr>
          <a:xfrm>
            <a:off x="530352" y="1417320"/>
            <a:ext cx="6537960" cy="44165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14173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GATE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452360" y="1810512"/>
            <a:ext cx="4069080" cy="749808"/>
          </a:xfrm>
          <a:prstGeom prst="roundRect">
            <a:avLst>
              <a:gd name="adj" fmla="val 9756"/>
            </a:avLst>
          </a:prstGeom>
          <a:solidFill>
            <a:srgbClr val="181B22"/>
          </a:solidFill>
          <a:ln w="12700">
            <a:solidFill>
              <a:srgbClr val="181B2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62672" y="2057400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 ·  Evaluate  ·  Approve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9482328" y="2578608"/>
            <a:ext cx="0" cy="338328"/>
          </a:xfrm>
          <a:prstGeom prst="line">
            <a:avLst/>
          </a:prstGeom>
          <a:noFill/>
          <a:ln w="19050">
            <a:solidFill>
              <a:srgbClr val="9E988F"/>
            </a:solidFill>
            <a:prstDash val="solid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8174736" y="2898648"/>
            <a:ext cx="1307592" cy="329184"/>
          </a:xfrm>
          <a:prstGeom prst="line">
            <a:avLst/>
          </a:prstGeom>
          <a:noFill/>
          <a:ln w="22860">
            <a:solidFill>
              <a:srgbClr val="137A70"/>
            </a:solidFill>
            <a:prstDash val="solid"/>
            <a:tailEnd type="none"/>
          </a:ln>
        </p:spPr>
      </p:sp>
      <p:sp>
        <p:nvSpPr>
          <p:cNvPr id="21" name="Shape 17"/>
          <p:cNvSpPr/>
          <p:nvPr/>
        </p:nvSpPr>
        <p:spPr>
          <a:xfrm>
            <a:off x="9482328" y="2898648"/>
            <a:ext cx="1307592" cy="329184"/>
          </a:xfrm>
          <a:prstGeom prst="line">
            <a:avLst/>
          </a:prstGeom>
          <a:noFill/>
          <a:ln w="22860">
            <a:solidFill>
              <a:srgbClr val="C77C1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7351776" y="3264408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DDEFEA"/>
          </a:solidFill>
          <a:ln w="12700">
            <a:solidFill>
              <a:srgbClr val="9CCEC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571232" y="345643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137A70"/>
          </a:solidFill>
          <a:ln w="12700">
            <a:solidFill>
              <a:srgbClr val="137A7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71232" y="35250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75438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1.1.0  ACTIVE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829800" y="3264408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7E8C9"/>
          </a:solidFill>
          <a:ln w="12700">
            <a:solidFill>
              <a:srgbClr val="E1BD7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332720" y="3456432"/>
            <a:ext cx="749808" cy="347472"/>
          </a:xfrm>
          <a:prstGeom prst="roundRect">
            <a:avLst>
              <a:gd name="adj" fmla="val 21053"/>
            </a:avLst>
          </a:prstGeom>
          <a:solidFill>
            <a:srgbClr val="C77C10"/>
          </a:solidFill>
          <a:ln w="12700">
            <a:solidFill>
              <a:srgbClr val="C77C1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332720" y="352501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0021824" y="385876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CURRENT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452360" y="4617720"/>
            <a:ext cx="4069080" cy="713232"/>
          </a:xfrm>
          <a:prstGeom prst="roundRect">
            <a:avLst>
              <a:gd name="adj" fmla="val 10256"/>
            </a:avLst>
          </a:prstGeom>
          <a:solidFill>
            <a:srgbClr val="FFFDF9"/>
          </a:solidFill>
          <a:ln w="12700">
            <a:solidFill>
              <a:srgbClr val="CFC8B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80960" y="47914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666A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FAILED CANDIDATE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9015984" y="47914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 GENERATION UNCHANGED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C9CB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 / HACKATHON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73968" y="25603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AB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D0F14">
              <a:alpha val="92000"/>
            </a:srgbClr>
          </a:solidFill>
          <a:ln w="12700">
            <a:solidFill>
              <a:srgbClr val="0D0F1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217920"/>
            <a:ext cx="1078992" cy="347472"/>
          </a:xfrm>
          <a:prstGeom prst="roundRect">
            <a:avLst>
              <a:gd name="adj" fmla="val 21053"/>
            </a:avLst>
          </a:prstGeom>
          <a:solidFill>
            <a:srgbClr val="A9233A"/>
          </a:solidFill>
          <a:ln w="12700">
            <a:solidFill>
              <a:srgbClr val="A92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2636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1:39-1:46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0512" y="6153912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Build once, reuse across the team. Releases are gated; failures keep the active version.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8368" y="84124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SAGE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676656" y="1691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F0D8DE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Turn Personal Skills into Team Capabilities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4944" y="25146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C7CAD0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Not another Tool Gateway: the governance and delivery layer for Agent Skills.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85800" y="3310128"/>
            <a:ext cx="3127248" cy="1600200"/>
          </a:xfrm>
          <a:prstGeom prst="roundRect">
            <a:avLst>
              <a:gd name="adj" fmla="val 4571"/>
            </a:avLst>
          </a:prstGeom>
          <a:solidFill>
            <a:srgbClr val="232730"/>
          </a:solidFill>
          <a:ln w="12700">
            <a:solidFill>
              <a:srgbClr val="3B3F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58444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37A7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2011680" y="367588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CALLS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011680" y="411480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BFC3C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DIRECT PATH ONLY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97680" y="3310128"/>
            <a:ext cx="3127248" cy="1600200"/>
          </a:xfrm>
          <a:prstGeom prst="roundRect">
            <a:avLst>
              <a:gd name="adj" fmla="val 4571"/>
            </a:avLst>
          </a:prstGeom>
          <a:solidFill>
            <a:srgbClr val="232730"/>
          </a:solidFill>
          <a:ln w="12700">
            <a:solidFill>
              <a:srgbClr val="3B3F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80560" y="358444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A9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32.4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5623560" y="367588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OUTPUT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23560" y="411480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BFC3C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STRUCTURED RUN OUTPUT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909560" y="3310128"/>
            <a:ext cx="3127248" cy="1600200"/>
          </a:xfrm>
          <a:prstGeom prst="roundRect">
            <a:avLst>
              <a:gd name="adj" fmla="val 4571"/>
            </a:avLst>
          </a:prstGeom>
          <a:solidFill>
            <a:srgbClr val="232730"/>
          </a:solidFill>
          <a:ln w="12700">
            <a:solidFill>
              <a:srgbClr val="3B3F4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3584448"/>
            <a:ext cx="114300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77C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v1→v2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235440" y="367588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GATED RELEASES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235440" y="4114800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BFC3CA"/>
                </a:solidFill>
                <a:latin typeface="Aptos" panose="020B0004020202020204" pitchFamily="34" charset="0"/>
                <a:ea typeface="Microsoft YaHei" pitchFamily="34" charset="-122"/>
                <a:cs typeface="Microsoft YaHei" pitchFamily="34" charset="-120"/>
              </a:rPr>
              <a:t>ACTIVATE AFTER GATES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515600" y="5367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99D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01:46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</Words>
  <Application>Microsoft Office PowerPoint</Application>
  <PresentationFormat>Widescreen</PresentationFormat>
  <Paragraphs>176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YaHei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SAGE: Turning Team Skills into Governed Agent APIs</dc:title>
  <dc:subject>Hackathon judge demo with Chinese captions and timed speaker notes</dc:subject>
  <dc:creator>SAGE Team</dc:creator>
  <cp:lastModifiedBy>Will Shao</cp:lastModifiedBy>
  <cp:revision>2</cp:revision>
  <dcterms:created xsi:type="dcterms:W3CDTF">2026-09-18T06:58:16Z</dcterms:created>
  <dcterms:modified xsi:type="dcterms:W3CDTF">2026-09-18T08:14:48Z</dcterms:modified>
</cp:coreProperties>
</file>