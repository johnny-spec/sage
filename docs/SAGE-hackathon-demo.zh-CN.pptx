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0:00-0:07｜7 秒
旁白：SAGE 把个人 Prompt、脚本和工具，变成团队可复用、可治理的 AI 能力。
画面提示：标题页停留，依次强调 Skill、治理门禁和团队 API。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0:07-0:18｜11 秒
旁白：团队并不缺 AI 能力。问题是它们分散在个人环境，调用边界写在说明里，升级还可能影响正在运行的任务。
画面提示：按从左到右的顺序讲环境、政策和升级风险。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0:18-0:34｜16 秒
旁白：SAGE 先验证和评测 Skill，再形成 Candidate，激活为不可变 Generation。已知任务零 LLM 直达；复杂目标由 Agent 按需加载 Skill。请求固定版本并经过统一策略边界。
画面提示：沿主流程从左向右讲，再对比 Direct 与 Agent 两条执行路径。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0:34-0:48｜14 秒
旁白：管理员连接 MCP Server，发现 calculate_total，并把它注册为只读、带版本和摘要的原生 Tool。治理从能力接入时就开始。
画面提示：依次指向 calculate_total、read-only、版本和 active 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0:48-1:06｜18 秒
旁白：设计器负责可视化配置；右侧是已验收 Quick Flow 的执行链。点击 Quick publish and run，平台自动解析依赖、构建、校验、激活并启动运行。
画面提示：先看设计器，再沿右侧已验收运行链讲解，最后强调 Quick publish and run。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1:06-1:24｜18 秒
旁白：Temporal 持久执行工作流。单价十二、数量三、折扣百分之十，JSON 输出 total 三十二点四。界面同时保留 Run、Release 和 Generation。
画面提示：先展示 completed，再指向真实 JSON 放大框，最后读出结果和版本信息。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1:24-1:39｜15 秒
旁白：发布不是覆盖文件。新版本通过验证、评测和审批后才原子激活；任一步失败，Active Generation 保持不变。左侧 Release history 记录了版本切换。
画面提示：对比 1.1.0 active 与 1.0.0 inactive，再讲通过和失败两条分支。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1:39-1:46｜7 秒
旁白：SAGE 不是另一个 Tool Gateway，而是 Agent Skills 的治理与交付层。
画面提示：停留在三项证据和 SAGE 标识，完成收束。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C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B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0F14">
              <a:alpha val="92000"/>
            </a:srgbClr>
          </a:solidFill>
          <a:ln w="12700">
            <a:solidFill>
              <a:srgbClr val="0D0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0:00-0:07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 Skill，升级为团队可复用、可治理的 AI 能力。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932688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3A2029"/>
          </a:solidFill>
          <a:ln w="12700">
            <a:solidFill>
              <a:srgbClr val="3A20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0012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AGENT GOVERNANCE ENGINE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141732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694944" y="26060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0D8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让团队 Skills 成为可治理的 Agent API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713232" y="3675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B2B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 /  PUBLISH  /  PIN  /  ROLLBACK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1828800"/>
            <a:ext cx="1225296" cy="1225296"/>
          </a:xfrm>
          <a:prstGeom prst="ellipse">
            <a:avLst/>
          </a:prstGeom>
          <a:solidFill>
            <a:srgbClr val="30252A"/>
          </a:solidFill>
          <a:ln w="15240">
            <a:solidFill>
              <a:srgbClr val="656A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224942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12280" y="3246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Script / Tool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2441448"/>
            <a:ext cx="384048" cy="0"/>
          </a:xfrm>
          <a:prstGeom prst="line">
            <a:avLst/>
          </a:prstGeom>
          <a:noFill/>
          <a:ln w="22860">
            <a:solidFill>
              <a:srgbClr val="7D828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641080" y="1828800"/>
            <a:ext cx="1225296" cy="1225296"/>
          </a:xfrm>
          <a:prstGeom prst="ellipse">
            <a:avLst/>
          </a:prstGeom>
          <a:solidFill>
            <a:srgbClr val="48212C"/>
          </a:solidFill>
          <a:ln w="31750">
            <a:solidFill>
              <a:srgbClr val="A923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1080" y="224942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03920" y="3246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+ Evidence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921240" y="2441448"/>
            <a:ext cx="384048" cy="0"/>
          </a:xfrm>
          <a:prstGeom prst="line">
            <a:avLst/>
          </a:prstGeom>
          <a:noFill/>
          <a:ln w="22860">
            <a:solidFill>
              <a:srgbClr val="7D828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0332720" y="1828800"/>
            <a:ext cx="1225296" cy="1225296"/>
          </a:xfrm>
          <a:prstGeom prst="ellipse">
            <a:avLst/>
          </a:prstGeom>
          <a:solidFill>
            <a:srgbClr val="153D39"/>
          </a:solidFill>
          <a:ln w="15240">
            <a:solidFill>
              <a:srgbClr val="656A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32720" y="224942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195560" y="3246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FC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Runtime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8660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8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个人能力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59952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8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可信交付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442448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C8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组织复用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能力很多，却停在个人电脑里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0:07-0:18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难点不是调用 Tool，而是安全交付与持续升级。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0352" y="1417320"/>
            <a:ext cx="3246120" cy="3584448"/>
          </a:xfrm>
          <a:prstGeom prst="rect">
            <a:avLst/>
          </a:prstGeom>
          <a:solidFill>
            <a:srgbClr val="FFFDF9"/>
          </a:solidFill>
          <a:ln w="12700">
            <a:solidFill>
              <a:srgbClr val="D6D0C7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" y="1417320"/>
            <a:ext cx="3246120" cy="109728"/>
          </a:xfrm>
          <a:prstGeom prst="rect">
            <a:avLst/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176479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2587752" y="1783080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4DDE2"/>
          </a:solidFill>
          <a:ln w="12700">
            <a:solidFill>
              <a:srgbClr val="F4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87752" y="18516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" y="24871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环境依赖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58952" y="31272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D51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别人要先复制文件、安装运行时，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D51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才能复用同一能力。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" y="4279392"/>
            <a:ext cx="2697480" cy="0"/>
          </a:xfrm>
          <a:prstGeom prst="line">
            <a:avLst/>
          </a:prstGeom>
          <a:noFill/>
          <a:ln w="27940">
            <a:solidFill>
              <a:srgbClr val="A9233A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4133088" y="1417320"/>
            <a:ext cx="3246120" cy="3584448"/>
          </a:xfrm>
          <a:prstGeom prst="rect">
            <a:avLst/>
          </a:prstGeom>
          <a:solidFill>
            <a:srgbClr val="FFFDF9"/>
          </a:solidFill>
          <a:ln w="12700">
            <a:solidFill>
              <a:srgbClr val="D6D0C7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33088" y="1417320"/>
            <a:ext cx="3246120" cy="109728"/>
          </a:xfrm>
          <a:prstGeom prst="rect">
            <a:avLst/>
          </a:prstGeom>
          <a:solidFill>
            <a:srgbClr val="C77C10"/>
          </a:solidFill>
          <a:ln w="12700">
            <a:solidFill>
              <a:srgbClr val="C77C1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61688" y="176479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900" dirty="0"/>
          </a:p>
        </p:txBody>
      </p:sp>
      <p:sp>
        <p:nvSpPr>
          <p:cNvPr id="21" name="Shape 18"/>
          <p:cNvSpPr/>
          <p:nvPr/>
        </p:nvSpPr>
        <p:spPr>
          <a:xfrm>
            <a:off x="6190488" y="1783080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7E8C9"/>
          </a:solidFill>
          <a:ln w="12700">
            <a:solidFill>
              <a:srgbClr val="F7E8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18516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361688" y="24871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边界藏在文档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361688" y="31272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D51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Schema、权限、超时和副作用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D51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没有统一的执行门禁。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361688" y="4279392"/>
            <a:ext cx="2697480" cy="0"/>
          </a:xfrm>
          <a:prstGeom prst="line">
            <a:avLst/>
          </a:prstGeom>
          <a:noFill/>
          <a:ln w="27940">
            <a:solidFill>
              <a:srgbClr val="C77C10"/>
            </a:solidFill>
            <a:prstDash val="solid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7735824" y="1417320"/>
            <a:ext cx="3246120" cy="3584448"/>
          </a:xfrm>
          <a:prstGeom prst="rect">
            <a:avLst/>
          </a:prstGeom>
          <a:solidFill>
            <a:srgbClr val="FFFDF9"/>
          </a:solidFill>
          <a:ln w="12700">
            <a:solidFill>
              <a:srgbClr val="D6D0C7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35824" y="1417320"/>
            <a:ext cx="3246120" cy="109728"/>
          </a:xfrm>
          <a:prstGeom prst="rect">
            <a:avLst/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64424" y="176479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900" dirty="0"/>
          </a:p>
        </p:txBody>
      </p:sp>
      <p:sp>
        <p:nvSpPr>
          <p:cNvPr id="29" name="Shape 26"/>
          <p:cNvSpPr/>
          <p:nvPr/>
        </p:nvSpPr>
        <p:spPr>
          <a:xfrm>
            <a:off x="9793224" y="1783080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93224" y="18516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964424" y="24871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升级影响运行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7964424" y="31272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D51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覆盖式发布缺少版本固定，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D51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错误变更难以及时回退。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7964424" y="4279392"/>
            <a:ext cx="2697480" cy="0"/>
          </a:xfrm>
          <a:prstGeom prst="line">
            <a:avLst/>
          </a:prstGeom>
          <a:noFill/>
          <a:ln w="27940">
            <a:solidFill>
              <a:srgbClr val="137A70"/>
            </a:solidFill>
            <a:prstDash val="solid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1051560" y="5230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问题不在“能不能调用”，而在“能不能放心交付”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一条可信交付链，两种执行路径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0:18-0:34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验证、发布、版本固定与执行策略，被连接成可信闭环。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84832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414016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7168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487168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· Eval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23360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352544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5696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425696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gate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61888" y="1901952"/>
            <a:ext cx="283464" cy="0"/>
          </a:xfrm>
          <a:prstGeom prst="line">
            <a:avLst/>
          </a:prstGeom>
          <a:noFill/>
          <a:ln w="19050">
            <a:solidFill>
              <a:srgbClr val="A9233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291072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364224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DDE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00416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229600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02752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02752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· Policy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838944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168128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41280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0241280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85800" y="2898648"/>
            <a:ext cx="5230368" cy="1609344"/>
          </a:xfrm>
          <a:prstGeom prst="roundRect">
            <a:avLst>
              <a:gd name="adj" fmla="val 4545"/>
            </a:avLst>
          </a:prstGeom>
          <a:solidFill>
            <a:srgbClr val="DDEFEA"/>
          </a:solidFill>
          <a:ln w="12700">
            <a:solidFill>
              <a:srgbClr val="9CCEC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976" y="317296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0976" y="32415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50976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7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确定性任务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950976" y="40507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56B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类型化输入输出，跳过模型推理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462272" y="313639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900" dirty="0"/>
          </a:p>
        </p:txBody>
      </p:sp>
      <p:sp>
        <p:nvSpPr>
          <p:cNvPr id="39" name="Text 36"/>
          <p:cNvSpPr/>
          <p:nvPr/>
        </p:nvSpPr>
        <p:spPr>
          <a:xfrm>
            <a:off x="4160520" y="3803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CALLS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63640" y="2898648"/>
            <a:ext cx="5230368" cy="1609344"/>
          </a:xfrm>
          <a:prstGeom prst="roundRect">
            <a:avLst>
              <a:gd name="adj" fmla="val 4545"/>
            </a:avLst>
          </a:prstGeom>
          <a:solidFill>
            <a:srgbClr val="F4DDE2"/>
          </a:solidFill>
          <a:ln w="12700">
            <a:solidFill>
              <a:srgbClr val="DCADB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28816" y="317296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28816" y="32415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528816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复杂目标</a:t>
            </a:r>
            <a:endParaRPr lang="en-US" sz="1900" dirty="0"/>
          </a:p>
        </p:txBody>
      </p:sp>
      <p:sp>
        <p:nvSpPr>
          <p:cNvPr id="44" name="Text 41"/>
          <p:cNvSpPr/>
          <p:nvPr/>
        </p:nvSpPr>
        <p:spPr>
          <a:xfrm>
            <a:off x="6528816" y="40507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F4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按需加载 Skill，并组合受控 Tool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9811512" y="34930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DEMAND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1426464" y="4901184"/>
            <a:ext cx="9326880" cy="521208"/>
          </a:xfrm>
          <a:prstGeom prst="roundRect">
            <a:avLst>
              <a:gd name="adj" fmla="val 14035"/>
            </a:avLst>
          </a:prstGeom>
          <a:solidFill>
            <a:srgbClr val="181B22"/>
          </a:solidFill>
          <a:ln w="12700">
            <a:solidFill>
              <a:srgbClr val="181B2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609344" y="5065776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  ·   SCHEMA   ·   RISK   ·   BUDGET   ·   APPROVAL   ·   AUDIT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接入并治理 MCP 能力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0:34-0:48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Tool 接入时即绑定版本、风险等级与内容摘要。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1208" y="1179576"/>
            <a:ext cx="7498080" cy="4507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" y="1179576"/>
            <a:ext cx="7498080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1271016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0392" y="1271016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1271016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GE MCP 管理页面，显示 calculate_total 的治理状态">    </p:cNvPr>
          <p:cNvPicPr>
            <a:picLocks noChangeAspect="1"/>
          </p:cNvPicPr>
          <p:nvPr/>
        </p:nvPicPr>
        <p:blipFill>
          <a:blip r:embed="rId1"/>
          <a:srcRect l="14236" r="3125" t="36871" b="16609"/>
          <a:stretch/>
        </p:blipFill>
        <p:spPr>
          <a:xfrm>
            <a:off x="566928" y="1435608"/>
            <a:ext cx="7406640" cy="4206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71216" y="2029968"/>
            <a:ext cx="4965192" cy="52120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923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71216" y="4087368"/>
            <a:ext cx="4965192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37A7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39328" y="1353312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能力进入运行时之前，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先成为可治理资产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8348472" y="2487168"/>
            <a:ext cx="384048" cy="384048"/>
          </a:xfrm>
          <a:prstGeom prst="ellipse">
            <a:avLst/>
          </a:prstGeom>
          <a:solidFill>
            <a:srgbClr val="A9233A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48472" y="255574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887968" y="24963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756648" y="2514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540496" y="2926080"/>
            <a:ext cx="0" cy="329184"/>
          </a:xfrm>
          <a:prstGeom prst="line">
            <a:avLst/>
          </a:prstGeom>
          <a:noFill/>
          <a:ln w="16510">
            <a:solidFill>
              <a:srgbClr val="B9B2A8"/>
            </a:solidFill>
            <a:prstDash val="solid"/>
            <a:tailEnd type="none"/>
          </a:ln>
        </p:spPr>
      </p:sp>
      <p:sp>
        <p:nvSpPr>
          <p:cNvPr id="24" name="Shape 20"/>
          <p:cNvSpPr/>
          <p:nvPr/>
        </p:nvSpPr>
        <p:spPr>
          <a:xfrm>
            <a:off x="8348472" y="3328416"/>
            <a:ext cx="384048" cy="384048"/>
          </a:xfrm>
          <a:prstGeom prst="ellipse">
            <a:avLst/>
          </a:prstGeom>
          <a:solidFill>
            <a:srgbClr val="A9233A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48472" y="339699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887968" y="33375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9756648" y="33558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calculate_total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540496" y="3767328"/>
            <a:ext cx="0" cy="329184"/>
          </a:xfrm>
          <a:prstGeom prst="line">
            <a:avLst/>
          </a:prstGeom>
          <a:noFill/>
          <a:ln w="16510">
            <a:solidFill>
              <a:srgbClr val="B9B2A8"/>
            </a:solidFill>
            <a:prstDash val="solid"/>
            <a:tailEnd type="none"/>
          </a:ln>
        </p:spPr>
      </p:sp>
      <p:sp>
        <p:nvSpPr>
          <p:cNvPr id="29" name="Shape 25"/>
          <p:cNvSpPr/>
          <p:nvPr/>
        </p:nvSpPr>
        <p:spPr>
          <a:xfrm>
            <a:off x="8348472" y="4169664"/>
            <a:ext cx="384048" cy="384048"/>
          </a:xfrm>
          <a:prstGeom prst="ellipse">
            <a:avLst/>
          </a:prstGeom>
          <a:solidFill>
            <a:srgbClr val="137A7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48472" y="423824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887968" y="417880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756648" y="4197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· risk · digest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348472" y="510235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48472" y="51709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READ-ONLY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9710928" y="510235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710928" y="51709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设计工作流，一键发布运行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0:48-1:06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一键完成依赖解析、构建、激活与持久运行。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4632" y="1161288"/>
            <a:ext cx="665683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" y="1161288"/>
            <a:ext cx="6656832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252728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" y="1252728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1252728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GE Workflow Designer 中的已保存工作流">    </p:cNvPr>
          <p:cNvPicPr>
            <a:picLocks noChangeAspect="1"/>
          </p:cNvPicPr>
          <p:nvPr/>
        </p:nvPicPr>
        <p:blipFill>
          <a:blip r:embed="rId1"/>
          <a:srcRect l="11228" r="2456" t="13841" b="15830"/>
          <a:stretch/>
        </p:blipFill>
        <p:spPr>
          <a:xfrm>
            <a:off x="530352" y="1417320"/>
            <a:ext cx="6565392" cy="4343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49808" y="1545336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181B22"/>
          </a:solidFill>
          <a:ln w="12700">
            <a:solidFill>
              <a:srgbClr val="181B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9808" y="16139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DESIGNER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516368" y="1353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已验收 QUICK FLOW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516368" y="1691640"/>
            <a:ext cx="3977640" cy="612648"/>
          </a:xfrm>
          <a:prstGeom prst="roundRect">
            <a:avLst>
              <a:gd name="adj" fmla="val 11940"/>
            </a:avLst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54112" y="18013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输入预处理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326880" y="1801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Skill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9500616" y="2322576"/>
            <a:ext cx="0" cy="182880"/>
          </a:xfrm>
          <a:prstGeom prst="line">
            <a:avLst/>
          </a:prstGeom>
          <a:noFill/>
          <a:ln w="17780">
            <a:solidFill>
              <a:srgbClr val="AAA49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516368" y="2532888"/>
            <a:ext cx="3977640" cy="612648"/>
          </a:xfrm>
          <a:prstGeom prst="roundRect">
            <a:avLst>
              <a:gd name="adj" fmla="val 11940"/>
            </a:avLst>
          </a:prstGeom>
          <a:solidFill>
            <a:srgbClr val="F4DDE2"/>
          </a:solidFill>
          <a:ln w="12700">
            <a:solidFill>
              <a:srgbClr val="F4DDE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54112" y="26426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业务计算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326880" y="2642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calculate_total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9500616" y="3163824"/>
            <a:ext cx="0" cy="182880"/>
          </a:xfrm>
          <a:prstGeom prst="line">
            <a:avLst/>
          </a:prstGeom>
          <a:noFill/>
          <a:ln w="17780">
            <a:solidFill>
              <a:srgbClr val="AAA49B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7516368" y="3374136"/>
            <a:ext cx="3977640" cy="612648"/>
          </a:xfrm>
          <a:prstGeom prst="roundRect">
            <a:avLst>
              <a:gd name="adj" fmla="val 11940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754112" y="3483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结果封装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326880" y="34838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137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 Skill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516368" y="4462272"/>
            <a:ext cx="3977640" cy="704088"/>
          </a:xfrm>
          <a:prstGeom prst="roundRect">
            <a:avLst>
              <a:gd name="adj" fmla="val 10390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80960" y="4681728"/>
            <a:ext cx="3648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PUBLISH AND RUN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479792" y="53766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  ·  build  ·  validate  ·  activate  ·  run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查看结构化运行结果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1:06-1:24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32.4；Run、Release 与 Generation 均可追踪。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4632" y="1161288"/>
            <a:ext cx="6766560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" y="1161288"/>
            <a:ext cx="6766560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252728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" y="1252728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1252728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GE Solution 运行已完成并显示结构化结果">    </p:cNvPr>
          <p:cNvPicPr>
            <a:picLocks noChangeAspect="1"/>
          </p:cNvPicPr>
          <p:nvPr/>
        </p:nvPicPr>
        <p:blipFill>
          <a:blip r:embed="rId1"/>
          <a:srcRect l="17014" r="5556" t="32113" b="18508"/>
          <a:stretch/>
        </p:blipFill>
        <p:spPr>
          <a:xfrm>
            <a:off x="530352" y="1417320"/>
            <a:ext cx="6675120" cy="42793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45152" y="2852928"/>
            <a:ext cx="2395728" cy="2670048"/>
          </a:xfrm>
          <a:prstGeom prst="rect">
            <a:avLst/>
          </a:prstGeom>
          <a:solidFill>
            <a:srgbClr val="FFFFFF"/>
          </a:solidFill>
          <a:ln w="25400">
            <a:solidFill>
              <a:srgbClr val="A9233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结构化 JSON 输出，包含 discount、quantity、subtotal、total 32.4 和 unit_price">    </p:cNvPr>
          <p:cNvPicPr>
            <a:picLocks noChangeAspect="1"/>
          </p:cNvPicPr>
          <p:nvPr/>
        </p:nvPicPr>
        <p:blipFill>
          <a:blip r:embed="rId2"/>
          <a:srcRect l="7692" r="7692" t="61038" b="16714"/>
          <a:stretch/>
        </p:blipFill>
        <p:spPr>
          <a:xfrm>
            <a:off x="4700016" y="3072384"/>
            <a:ext cx="2286000" cy="23957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91456" y="2907792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91456" y="29763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JSON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635240" y="14173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635240" y="14859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RUN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63524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 12  ·  数量 3  ·  折扣 10%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973568" y="2496312"/>
            <a:ext cx="3310128" cy="0"/>
          </a:xfrm>
          <a:prstGeom prst="line">
            <a:avLst/>
          </a:prstGeom>
          <a:noFill/>
          <a:ln w="17780">
            <a:solidFill>
              <a:srgbClr val="D8D2C8"/>
            </a:solidFill>
            <a:prstDash val="solid"/>
            <a:tailEnd type="none"/>
          </a:ln>
        </p:spPr>
      </p:sp>
      <p:sp>
        <p:nvSpPr>
          <p:cNvPr id="24" name="Text 19"/>
          <p:cNvSpPr/>
          <p:nvPr/>
        </p:nvSpPr>
        <p:spPr>
          <a:xfrm>
            <a:off x="7635240" y="2670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32.4</a:t>
            </a:r>
            <a:endParaRPr lang="en-US" sz="5200" dirty="0"/>
          </a:p>
        </p:txBody>
      </p:sp>
      <p:sp>
        <p:nvSpPr>
          <p:cNvPr id="25" name="Text 20"/>
          <p:cNvSpPr/>
          <p:nvPr/>
        </p:nvSpPr>
        <p:spPr>
          <a:xfrm>
            <a:off x="7635240" y="3584448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OUTPUT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35240" y="4279392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DDEFEA"/>
          </a:solidFill>
          <a:ln w="12700">
            <a:solidFill>
              <a:srgbClr val="A5D2C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635240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7635240" y="4782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979408" y="4279392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D5CFC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979408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979408" y="4782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10323576" y="4279392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D5CFC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323576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323576" y="4782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pinned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新版本通过门禁才会生效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1:24-1:39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通过则原子激活；失败则保留当前 Generation。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4632" y="1161288"/>
            <a:ext cx="6629400" cy="4718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" y="1161288"/>
            <a:ext cx="6629400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252728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" y="1252728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1252728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GE Release 页面，显示 1.1.0 active 和 1.0.0 inactive">    </p:cNvPr>
          <p:cNvPicPr>
            <a:picLocks noChangeAspect="1"/>
          </p:cNvPicPr>
          <p:nvPr/>
        </p:nvPicPr>
        <p:blipFill>
          <a:blip r:embed="rId1"/>
          <a:srcRect l="15972" r="5556" t="17000" b="6600"/>
          <a:stretch/>
        </p:blipFill>
        <p:spPr>
          <a:xfrm>
            <a:off x="530352" y="1417320"/>
            <a:ext cx="6537960" cy="44165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14173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GATE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452360" y="1810512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181B22"/>
          </a:solidFill>
          <a:ln w="12700">
            <a:solidFill>
              <a:srgbClr val="181B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62672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 ·  Evaluate  ·  Approve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482328" y="2578608"/>
            <a:ext cx="0" cy="338328"/>
          </a:xfrm>
          <a:prstGeom prst="line">
            <a:avLst/>
          </a:prstGeom>
          <a:noFill/>
          <a:ln w="19050">
            <a:solidFill>
              <a:srgbClr val="9E988F"/>
            </a:solidFill>
            <a:prstDash val="solid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8174736" y="2898648"/>
            <a:ext cx="1307592" cy="329184"/>
          </a:xfrm>
          <a:prstGeom prst="line">
            <a:avLst/>
          </a:prstGeom>
          <a:noFill/>
          <a:ln w="22860">
            <a:solidFill>
              <a:srgbClr val="137A70"/>
            </a:solidFill>
            <a:prstDash val="solid"/>
            <a:tailEnd type="none"/>
          </a:ln>
        </p:spPr>
      </p:sp>
      <p:sp>
        <p:nvSpPr>
          <p:cNvPr id="21" name="Shape 17"/>
          <p:cNvSpPr/>
          <p:nvPr/>
        </p:nvSpPr>
        <p:spPr>
          <a:xfrm>
            <a:off x="9482328" y="2898648"/>
            <a:ext cx="1307592" cy="329184"/>
          </a:xfrm>
          <a:prstGeom prst="line">
            <a:avLst/>
          </a:prstGeom>
          <a:noFill/>
          <a:ln w="22860">
            <a:solidFill>
              <a:srgbClr val="C77C1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351776" y="3264408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DDEFEA"/>
          </a:solidFill>
          <a:ln w="12700">
            <a:solidFill>
              <a:srgbClr val="9CCEC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71232" y="345643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71232" y="35250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75438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1.1.0  ACTIVE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829800" y="3264408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7E8C9"/>
          </a:solidFill>
          <a:ln w="12700">
            <a:solidFill>
              <a:srgbClr val="E1BD7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332720" y="345643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C77C10"/>
          </a:solidFill>
          <a:ln w="12700">
            <a:solidFill>
              <a:srgbClr val="C77C1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332720" y="35250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0021824" y="385876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CURRENT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452360" y="461772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 w="12700">
            <a:solidFill>
              <a:srgbClr val="CFC8B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80960" y="47914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FAILED CANDIDATE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9015984" y="47914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 GENERATION UNCHANGED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C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AB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0F14">
              <a:alpha val="92000"/>
            </a:srgbClr>
          </a:solidFill>
          <a:ln w="12700">
            <a:solidFill>
              <a:srgbClr val="0D0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1:39-1:46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一次开发，全团队复用；发布有门禁，失败保留当前版本。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8412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76656" y="1691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0D8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让个人 Skill 成为组织能力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94944" y="25146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CA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不是另一个 Tool Gateway，而是 Agent Skills 的治理与交付层。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5800" y="3310128"/>
            <a:ext cx="3127248" cy="1600200"/>
          </a:xfrm>
          <a:prstGeom prst="roundRect">
            <a:avLst>
              <a:gd name="adj" fmla="val 4571"/>
            </a:avLst>
          </a:prstGeom>
          <a:solidFill>
            <a:srgbClr val="232730"/>
          </a:solidFill>
          <a:ln w="12700">
            <a:solidFill>
              <a:srgbClr val="3B3F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58444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2011680" y="367588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CALLS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11680" y="411480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C3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Direct 路径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3310128"/>
            <a:ext cx="3127248" cy="1600200"/>
          </a:xfrm>
          <a:prstGeom prst="roundRect">
            <a:avLst>
              <a:gd name="adj" fmla="val 4571"/>
            </a:avLst>
          </a:prstGeom>
          <a:solidFill>
            <a:srgbClr val="232730"/>
          </a:solidFill>
          <a:ln w="12700">
            <a:solidFill>
              <a:srgbClr val="3B3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358444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32.4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5623560" y="367588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411480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C3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结构化运行结果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09560" y="3310128"/>
            <a:ext cx="3127248" cy="1600200"/>
          </a:xfrm>
          <a:prstGeom prst="roundRect">
            <a:avLst>
              <a:gd name="adj" fmla="val 4571"/>
            </a:avLst>
          </a:prstGeom>
          <a:solidFill>
            <a:srgbClr val="232730"/>
          </a:solidFill>
          <a:ln w="12700">
            <a:solidFill>
              <a:srgbClr val="3B3F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358444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v1→v2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9235440" y="367588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GATED RELEASES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35440" y="411480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C3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通过门禁才生效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600" y="5367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99D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01:46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SAGE：让团队 Skills 成为可治理的 Agent API</dc:title>
  <dc:subject>Hackathon judge demo with Chinese captions and timed speaker notes</dc:subject>
  <dc:creator>SAGE Team</dc:creator>
  <cp:lastModifiedBy>SAGE Team</cp:lastModifiedBy>
  <cp:revision>1</cp:revision>
  <dcterms:created xsi:type="dcterms:W3CDTF">2026-09-18T06:58:16Z</dcterms:created>
  <dcterms:modified xsi:type="dcterms:W3CDTF">2026-09-18T06:58:16Z</dcterms:modified>
</cp:coreProperties>
</file>